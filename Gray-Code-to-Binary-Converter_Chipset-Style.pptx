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CF2D755-C122-BD95-2269-6A2A319E5A55}">
          <p14:sldIdLst>
            <p14:sldId id="256"/>
            <p14:sldId id="257"/>
          </p14:sldIdLst>
        </p14:section>
        <p14:section name="Method" id="{7CE94C8E-843F-6CDD-E01C-60D0A1D4FB5F}">
          <p14:sldIdLst>
            <p14:sldId id="258"/>
            <p14:sldId id="259"/>
          </p14:sldIdLst>
        </p14:section>
        <p14:section name="Verification" id="{3DBC7D18-3992-0ABE-044D-46522718925A}">
          <p14:sldIdLst>
            <p14:sldId id="260"/>
            <p14:sldId id="261"/>
          </p14:sldIdLst>
        </p14:section>
        <p14:section name="Applications and Wrap-up" id="{A1145657-E07F-588B-6B16-DCB869AFC925}">
          <p14:sldIdLst>
            <p14:sldId id="262"/>
            <p14:sldId id="265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246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P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76656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P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4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P_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68680" y="1051560"/>
            <a:ext cx="41148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4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4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pill"/>
          <p:cNvSpPr/>
          <p:nvPr/>
        </p:nvSpPr>
        <p:spPr>
          <a:xfrm>
            <a:off x="731520" y="1051560"/>
            <a:ext cx="338328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Eyebrow"/>
          <p:cNvSpPr txBox="1"/>
          <p:nvPr/>
        </p:nvSpPr>
        <p:spPr>
          <a:xfrm>
            <a:off x="731520" y="1051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bg1"/>
                </a:solidFill>
              </a:rPr>
              <a:t>DIGITAL LOGIC · DESIGN PROJECT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76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Design a Gray Code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to Binary Converter</a:t>
            </a:r>
            <a:endParaRPr lang="en-US" sz="4800" dirty="0"/>
          </a:p>
        </p:txBody>
      </p:sp>
      <p:sp>
        <p:nvSpPr>
          <p:cNvPr id="5" name="Subtitle"/>
          <p:cNvSpPr txBox="1"/>
          <p:nvPr/>
        </p:nvSpPr>
        <p:spPr>
          <a:xfrm>
            <a:off x="731520" y="388620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A four-bit combinational circuit built from cumulative XOR logic, then verified in Logisim.</a:t>
            </a:r>
            <a:endParaRPr lang="en-US" sz="1800" dirty="0"/>
          </a:p>
        </p:txBody>
      </p:sp>
      <p:sp>
        <p:nvSpPr>
          <p:cNvPr id="6" name="Team card"/>
          <p:cNvSpPr/>
          <p:nvPr/>
        </p:nvSpPr>
        <p:spPr>
          <a:xfrm>
            <a:off x="731520" y="4892040"/>
            <a:ext cx="5852160" cy="1371600"/>
          </a:xfrm>
          <a:prstGeom prst="roundRect">
            <a:avLst>
              <a:gd name="adj" fmla="val 9333"/>
            </a:avLst>
          </a:prstGeom>
          <a:solidFill>
            <a:schemeClr val="tx1">
              <a:alpha val="70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7" name="Team members"/>
          <p:cNvSpPr txBox="1"/>
          <p:nvPr/>
        </p:nvSpPr>
        <p:spPr>
          <a:xfrm>
            <a:off x="1005840" y="50292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2620040114—Mohan Siva Siddhartha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2620040088– Varshitha K V N Deva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2620040056 – Gelli Janani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2620040116 – Peela Joshmitha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WHY GRAY CODE?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Gray code prevents multi-bit transition errors</a:t>
            </a:r>
            <a:endParaRPr lang="en-US" sz="3000" dirty="0"/>
          </a:p>
        </p:txBody>
      </p:sp>
      <p:sp>
        <p:nvSpPr>
          <p:cNvPr id="4" name="Definition card"/>
          <p:cNvSpPr/>
          <p:nvPr/>
        </p:nvSpPr>
        <p:spPr>
          <a:xfrm>
            <a:off x="548640" y="1828800"/>
            <a:ext cx="6309360" cy="1234440"/>
          </a:xfrm>
          <a:prstGeom prst="roundRect">
            <a:avLst>
              <a:gd name="adj" fmla="val 10370"/>
            </a:avLst>
          </a:prstGeom>
          <a:solidFill>
            <a:schemeClr val="tx2">
              <a:alpha val="75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5" name="Definition text"/>
          <p:cNvSpPr txBox="1"/>
          <p:nvPr/>
        </p:nvSpPr>
        <p:spPr>
          <a:xfrm>
            <a:off x="822960" y="1828800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Gray code is a unit-distance code: adjacent values differ in exactly one bit.</a:t>
            </a:r>
            <a:endParaRPr lang="en-US" sz="1800" dirty="0"/>
          </a:p>
        </p:txBody>
      </p:sp>
      <p:sp>
        <p:nvSpPr>
          <p:cNvPr id="6" name="Benefit card"/>
          <p:cNvSpPr/>
          <p:nvPr/>
        </p:nvSpPr>
        <p:spPr>
          <a:xfrm>
            <a:off x="548640" y="3246120"/>
            <a:ext cx="6309360" cy="1234440"/>
          </a:xfrm>
          <a:prstGeom prst="roundRect">
            <a:avLst>
              <a:gd name="adj" fmla="val 10370"/>
            </a:avLst>
          </a:prstGeom>
          <a:solidFill>
            <a:schemeClr val="tx2">
              <a:alpha val="75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7" name="Benefit text"/>
          <p:cNvSpPr txBox="1"/>
          <p:nvPr/>
        </p:nvSpPr>
        <p:spPr>
          <a:xfrm>
            <a:off x="822960" y="3246120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This single-bit change reduces ambiguity when a changing position or count is sampled between transitions.</a:t>
            </a:r>
            <a:endParaRPr lang="en-US" sz="1800" dirty="0"/>
          </a:p>
        </p:txBody>
      </p:sp>
      <p:sp>
        <p:nvSpPr>
          <p:cNvPr id="8" name="Objective card"/>
          <p:cNvSpPr/>
          <p:nvPr/>
        </p:nvSpPr>
        <p:spPr>
          <a:xfrm>
            <a:off x="7223760" y="1828800"/>
            <a:ext cx="4389120" cy="2651760"/>
          </a:xfrm>
          <a:prstGeom prst="roundRect">
            <a:avLst>
              <a:gd name="adj" fmla="val 4828"/>
            </a:avLst>
          </a:prstGeom>
          <a:solidFill>
            <a:schemeClr val="accent1">
              <a:alpha val="2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Label DESIGN OBJECTIVE"/>
          <p:cNvSpPr txBox="1"/>
          <p:nvPr/>
        </p:nvSpPr>
        <p:spPr>
          <a:xfrm>
            <a:off x="749808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DESIGN OBJECTIVE</a:t>
            </a:r>
            <a:endParaRPr lang="en-US" sz="1200" dirty="0"/>
          </a:p>
        </p:txBody>
      </p:sp>
      <p:sp>
        <p:nvSpPr>
          <p:cNvPr id="10" name="Objective input"/>
          <p:cNvSpPr txBox="1"/>
          <p:nvPr/>
        </p:nvSpPr>
        <p:spPr>
          <a:xfrm>
            <a:off x="7498080" y="24688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Convert an n-bit Gray input</a:t>
            </a:r>
            <a:endParaRPr lang="en-US" sz="2200" dirty="0"/>
          </a:p>
        </p:txBody>
      </p:sp>
      <p:sp>
        <p:nvSpPr>
          <p:cNvPr id="11" name="Arrow"/>
          <p:cNvSpPr/>
          <p:nvPr/>
        </p:nvSpPr>
        <p:spPr>
          <a:xfrm rot="5400000">
            <a:off x="7635240" y="3310128"/>
            <a:ext cx="274320" cy="201168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Objective output"/>
          <p:cNvSpPr txBox="1"/>
          <p:nvPr/>
        </p:nvSpPr>
        <p:spPr>
          <a:xfrm>
            <a:off x="7498080" y="3657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Produce the equivalent binary output with a combinational circuit.</a:t>
            </a:r>
            <a:endParaRPr lang="en-US" sz="1600" dirty="0"/>
          </a:p>
        </p:txBody>
      </p:sp>
      <p:pic>
        <p:nvPicPr>
          <p:cNvPr id="13" name="Chip banner" descr="Circuit board art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0"/>
            <a:ext cx="11064240" cy="15453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4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THE CORE RULE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Conversion is a running XOR from MSB to LSB</a:t>
            </a:r>
            <a:endParaRPr lang="en-US" sz="3000" dirty="0"/>
          </a:p>
        </p:txBody>
      </p:sp>
      <p:pic>
        <p:nvPicPr>
          <p:cNvPr id="4" name="XOR chain diagram" descr="Logisim XOR chain for Gray to binary convers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3474720" cy="2436876"/>
          </a:xfrm>
          <a:prstGeom prst="rect">
            <a:avLst/>
          </a:prstGeom>
        </p:spPr>
      </p:pic>
      <p:sp>
        <p:nvSpPr>
          <p:cNvPr id="5" name="Rule text"/>
          <p:cNvSpPr txBox="1"/>
          <p:nvPr/>
        </p:nvSpPr>
        <p:spPr>
          <a:xfrm>
            <a:off x="4297680" y="1828800"/>
            <a:ext cx="3017520" cy="2436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Copy the most-significant bit, then recover each following binary bit from the current Gray bit and the binary bit already decoded.</a:t>
            </a:r>
            <a:endParaRPr lang="en-US" sz="1400" dirty="0"/>
          </a:p>
        </p:txBody>
      </p:sp>
      <p:sp>
        <p:nvSpPr>
          <p:cNvPr id="6" name="Equation b3 = g3"/>
          <p:cNvSpPr/>
          <p:nvPr/>
        </p:nvSpPr>
        <p:spPr>
          <a:xfrm>
            <a:off x="548640" y="4572000"/>
            <a:ext cx="3291840" cy="685800"/>
          </a:xfrm>
          <a:prstGeom prst="roundRect">
            <a:avLst>
              <a:gd name="adj" fmla="val 18667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Equation text"/>
          <p:cNvSpPr txBox="1"/>
          <p:nvPr/>
        </p:nvSpPr>
        <p:spPr>
          <a:xfrm>
            <a:off x="548640" y="45720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b3 = g3</a:t>
            </a:r>
            <a:endParaRPr lang="en-US" sz="2000" dirty="0"/>
          </a:p>
        </p:txBody>
      </p:sp>
      <p:sp>
        <p:nvSpPr>
          <p:cNvPr id="8" name="Equation b1 = g1 ⊕ b2"/>
          <p:cNvSpPr/>
          <p:nvPr/>
        </p:nvSpPr>
        <p:spPr>
          <a:xfrm>
            <a:off x="4023360" y="4572000"/>
            <a:ext cx="3291840" cy="685800"/>
          </a:xfrm>
          <a:prstGeom prst="roundRect">
            <a:avLst>
              <a:gd name="adj" fmla="val 18667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Equation text"/>
          <p:cNvSpPr txBox="1"/>
          <p:nvPr/>
        </p:nvSpPr>
        <p:spPr>
          <a:xfrm>
            <a:off x="4023360" y="45720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b1 = g1 ⊕ b2</a:t>
            </a:r>
            <a:endParaRPr lang="en-US" sz="2000" dirty="0"/>
          </a:p>
        </p:txBody>
      </p:sp>
      <p:sp>
        <p:nvSpPr>
          <p:cNvPr id="10" name="Equation b2 = g2 ⊕ b3"/>
          <p:cNvSpPr/>
          <p:nvPr/>
        </p:nvSpPr>
        <p:spPr>
          <a:xfrm>
            <a:off x="548640" y="5394960"/>
            <a:ext cx="3291840" cy="685800"/>
          </a:xfrm>
          <a:prstGeom prst="roundRect">
            <a:avLst>
              <a:gd name="adj" fmla="val 18667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Equation text"/>
          <p:cNvSpPr txBox="1"/>
          <p:nvPr/>
        </p:nvSpPr>
        <p:spPr>
          <a:xfrm>
            <a:off x="548640" y="5394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b2 = g2 ⊕ b3</a:t>
            </a:r>
            <a:endParaRPr lang="en-US" sz="2000" dirty="0"/>
          </a:p>
        </p:txBody>
      </p:sp>
      <p:sp>
        <p:nvSpPr>
          <p:cNvPr id="12" name="Equation b0 = g0 ⊕ b1"/>
          <p:cNvSpPr/>
          <p:nvPr/>
        </p:nvSpPr>
        <p:spPr>
          <a:xfrm>
            <a:off x="4023360" y="5394960"/>
            <a:ext cx="3291840" cy="685800"/>
          </a:xfrm>
          <a:prstGeom prst="roundRect">
            <a:avLst>
              <a:gd name="adj" fmla="val 18667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Equation text"/>
          <p:cNvSpPr txBox="1"/>
          <p:nvPr/>
        </p:nvSpPr>
        <p:spPr>
          <a:xfrm>
            <a:off x="4023360" y="5394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b0 = g0 ⊕ b1</a:t>
            </a:r>
            <a:endParaRPr lang="en-US" sz="2000" dirty="0"/>
          </a:p>
        </p:txBody>
      </p:sp>
      <p:sp>
        <p:nvSpPr>
          <p:cNvPr id="14" name="Scaling card"/>
          <p:cNvSpPr/>
          <p:nvPr/>
        </p:nvSpPr>
        <p:spPr>
          <a:xfrm>
            <a:off x="7589520" y="1828800"/>
            <a:ext cx="4069080" cy="4480560"/>
          </a:xfrm>
          <a:prstGeom prst="roundRect">
            <a:avLst>
              <a:gd name="adj" fmla="val 3146"/>
            </a:avLst>
          </a:prstGeom>
          <a:solidFill>
            <a:schemeClr val="tx2">
              <a:alpha val="75000"/>
            </a:schemeClr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15" name="Truth table image" descr="Gray to binary truth 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057400"/>
            <a:ext cx="2029968" cy="2743200"/>
          </a:xfrm>
          <a:prstGeom prst="rect">
            <a:avLst/>
          </a:prstGeom>
        </p:spPr>
      </p:pic>
      <p:sp>
        <p:nvSpPr>
          <p:cNvPr id="16" name="Label SCALING LAW"/>
          <p:cNvSpPr txBox="1"/>
          <p:nvPr/>
        </p:nvSpPr>
        <p:spPr>
          <a:xfrm>
            <a:off x="1005840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SCALING LAW</a:t>
            </a:r>
            <a:endParaRPr lang="en-US" sz="1200" dirty="0"/>
          </a:p>
        </p:txBody>
      </p:sp>
      <p:sp>
        <p:nvSpPr>
          <p:cNvPr id="17" name="Scaling value"/>
          <p:cNvSpPr txBox="1"/>
          <p:nvPr/>
        </p:nvSpPr>
        <p:spPr>
          <a:xfrm>
            <a:off x="1005840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n − 1</a:t>
            </a:r>
            <a:endParaRPr lang="en-US" sz="3600" dirty="0"/>
          </a:p>
        </p:txBody>
      </p:sp>
      <p:sp>
        <p:nvSpPr>
          <p:cNvPr id="18" name="Scaling caption"/>
          <p:cNvSpPr txBox="1"/>
          <p:nvPr/>
        </p:nvSpPr>
        <p:spPr>
          <a:xfrm>
            <a:off x="7818120" y="4937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XOR gates for an n-bit converter</a:t>
            </a:r>
            <a:endParaRPr lang="en-US" sz="1500" dirty="0"/>
          </a:p>
        </p:txBody>
      </p:sp>
      <p:sp>
        <p:nvSpPr>
          <p:cNvPr id="19" name="Scaling note"/>
          <p:cNvSpPr txBox="1"/>
          <p:nvPr/>
        </p:nvSpPr>
        <p:spPr>
          <a:xfrm>
            <a:off x="7818120" y="5440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The basic chain needs no AND or OR gates. Each stage reuses the binary result immediately above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4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4-BIT IMPLEMENTATION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The 4-bit logic circuit is a three-stage XOR chain</a:t>
            </a:r>
            <a:endParaRPr lang="en-US" sz="3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G3 passes directly to B3. For G2–G0, each XOR combines the Gray bit with the preceding binary output.</a:t>
            </a:r>
            <a:endParaRPr lang="en-US" sz="1600" dirty="0"/>
          </a:p>
        </p:txBody>
      </p:sp>
      <p:sp>
        <p:nvSpPr>
          <p:cNvPr id="5" name="Circuit card"/>
          <p:cNvSpPr/>
          <p:nvPr/>
        </p:nvSpPr>
        <p:spPr>
          <a:xfrm>
            <a:off x="548640" y="2514600"/>
            <a:ext cx="7498080" cy="3749040"/>
          </a:xfrm>
          <a:prstGeom prst="roundRect">
            <a:avLst>
              <a:gd name="adj" fmla="val 3415"/>
            </a:avLst>
          </a:prstGeom>
          <a:solidFill>
            <a:schemeClr val="tx2">
              <a:alpha val="75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6" name="Wire"/>
          <p:cNvSpPr/>
          <p:nvPr/>
        </p:nvSpPr>
        <p:spPr>
          <a:xfrm>
            <a:off x="1691640" y="3154680"/>
            <a:ext cx="525780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7" name="Wire"/>
          <p:cNvSpPr/>
          <p:nvPr/>
        </p:nvSpPr>
        <p:spPr>
          <a:xfrm>
            <a:off x="1691640" y="3931920"/>
            <a:ext cx="107442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8" name="Wire"/>
          <p:cNvSpPr/>
          <p:nvPr/>
        </p:nvSpPr>
        <p:spPr>
          <a:xfrm>
            <a:off x="3268980" y="3931920"/>
            <a:ext cx="368046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9" name="Wire"/>
          <p:cNvSpPr/>
          <p:nvPr/>
        </p:nvSpPr>
        <p:spPr>
          <a:xfrm>
            <a:off x="3017520" y="3154680"/>
            <a:ext cx="0" cy="52578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10" name="Junction"/>
          <p:cNvSpPr/>
          <p:nvPr/>
        </p:nvSpPr>
        <p:spPr>
          <a:xfrm>
            <a:off x="2953512" y="309067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Wire"/>
          <p:cNvSpPr/>
          <p:nvPr/>
        </p:nvSpPr>
        <p:spPr>
          <a:xfrm>
            <a:off x="1691640" y="4709160"/>
            <a:ext cx="226314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12" name="Wire"/>
          <p:cNvSpPr/>
          <p:nvPr/>
        </p:nvSpPr>
        <p:spPr>
          <a:xfrm>
            <a:off x="4457700" y="4709160"/>
            <a:ext cx="249174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13" name="Wire"/>
          <p:cNvSpPr/>
          <p:nvPr/>
        </p:nvSpPr>
        <p:spPr>
          <a:xfrm>
            <a:off x="4206240" y="3931920"/>
            <a:ext cx="0" cy="52578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14" name="Junction"/>
          <p:cNvSpPr/>
          <p:nvPr/>
        </p:nvSpPr>
        <p:spPr>
          <a:xfrm>
            <a:off x="4142232" y="386791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Wire"/>
          <p:cNvSpPr/>
          <p:nvPr/>
        </p:nvSpPr>
        <p:spPr>
          <a:xfrm>
            <a:off x="1691640" y="5486400"/>
            <a:ext cx="345186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16" name="Wire"/>
          <p:cNvSpPr/>
          <p:nvPr/>
        </p:nvSpPr>
        <p:spPr>
          <a:xfrm>
            <a:off x="5646420" y="5486400"/>
            <a:ext cx="130302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17" name="Wire"/>
          <p:cNvSpPr/>
          <p:nvPr/>
        </p:nvSpPr>
        <p:spPr>
          <a:xfrm>
            <a:off x="5394960" y="4709160"/>
            <a:ext cx="0" cy="52578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18" name="Junction"/>
          <p:cNvSpPr/>
          <p:nvPr/>
        </p:nvSpPr>
        <p:spPr>
          <a:xfrm>
            <a:off x="5330952" y="4645152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G3 pin"/>
          <p:cNvSpPr/>
          <p:nvPr/>
        </p:nvSpPr>
        <p:spPr>
          <a:xfrm>
            <a:off x="914400" y="2903220"/>
            <a:ext cx="777240" cy="502920"/>
          </a:xfrm>
          <a:prstGeom prst="roundRect">
            <a:avLst>
              <a:gd name="adj" fmla="val 21818"/>
            </a:avLst>
          </a:prstGeom>
          <a:solidFill>
            <a:schemeClr val="accent3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0" name="G3 label"/>
          <p:cNvSpPr txBox="1"/>
          <p:nvPr/>
        </p:nvSpPr>
        <p:spPr>
          <a:xfrm>
            <a:off x="914400" y="29032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G3</a:t>
            </a:r>
            <a:endParaRPr lang="en-US" sz="1600" dirty="0"/>
          </a:p>
        </p:txBody>
      </p:sp>
      <p:sp>
        <p:nvSpPr>
          <p:cNvPr id="21" name="G2 pin"/>
          <p:cNvSpPr/>
          <p:nvPr/>
        </p:nvSpPr>
        <p:spPr>
          <a:xfrm>
            <a:off x="914400" y="3680460"/>
            <a:ext cx="777240" cy="502920"/>
          </a:xfrm>
          <a:prstGeom prst="roundRect">
            <a:avLst>
              <a:gd name="adj" fmla="val 21818"/>
            </a:avLst>
          </a:prstGeom>
          <a:solidFill>
            <a:schemeClr val="accent3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2" name="G2 label"/>
          <p:cNvSpPr txBox="1"/>
          <p:nvPr/>
        </p:nvSpPr>
        <p:spPr>
          <a:xfrm>
            <a:off x="914400" y="36804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G2</a:t>
            </a:r>
            <a:endParaRPr lang="en-US" sz="1600" dirty="0"/>
          </a:p>
        </p:txBody>
      </p:sp>
      <p:sp>
        <p:nvSpPr>
          <p:cNvPr id="23" name="G1 pin"/>
          <p:cNvSpPr/>
          <p:nvPr/>
        </p:nvSpPr>
        <p:spPr>
          <a:xfrm>
            <a:off x="914400" y="4457700"/>
            <a:ext cx="777240" cy="502920"/>
          </a:xfrm>
          <a:prstGeom prst="roundRect">
            <a:avLst>
              <a:gd name="adj" fmla="val 21818"/>
            </a:avLst>
          </a:prstGeom>
          <a:solidFill>
            <a:schemeClr val="accent3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4" name="G1 label"/>
          <p:cNvSpPr txBox="1"/>
          <p:nvPr/>
        </p:nvSpPr>
        <p:spPr>
          <a:xfrm>
            <a:off x="914400" y="44577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G1</a:t>
            </a:r>
            <a:endParaRPr lang="en-US" sz="1600" dirty="0"/>
          </a:p>
        </p:txBody>
      </p:sp>
      <p:sp>
        <p:nvSpPr>
          <p:cNvPr id="25" name="G0 pin"/>
          <p:cNvSpPr/>
          <p:nvPr/>
        </p:nvSpPr>
        <p:spPr>
          <a:xfrm>
            <a:off x="914400" y="5234940"/>
            <a:ext cx="777240" cy="502920"/>
          </a:xfrm>
          <a:prstGeom prst="roundRect">
            <a:avLst>
              <a:gd name="adj" fmla="val 21818"/>
            </a:avLst>
          </a:prstGeom>
          <a:solidFill>
            <a:schemeClr val="accent3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6" name="G0 label"/>
          <p:cNvSpPr txBox="1"/>
          <p:nvPr/>
        </p:nvSpPr>
        <p:spPr>
          <a:xfrm>
            <a:off x="914400" y="52349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G0</a:t>
            </a:r>
            <a:endParaRPr lang="en-US" sz="1600" dirty="0"/>
          </a:p>
        </p:txBody>
      </p:sp>
      <p:sp>
        <p:nvSpPr>
          <p:cNvPr id="27" name="B3 pin"/>
          <p:cNvSpPr/>
          <p:nvPr/>
        </p:nvSpPr>
        <p:spPr>
          <a:xfrm>
            <a:off x="6949440" y="2903220"/>
            <a:ext cx="77724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8" name="B3 label"/>
          <p:cNvSpPr txBox="1"/>
          <p:nvPr/>
        </p:nvSpPr>
        <p:spPr>
          <a:xfrm>
            <a:off x="6949440" y="29032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B3</a:t>
            </a:r>
            <a:endParaRPr lang="en-US" sz="1600" dirty="0"/>
          </a:p>
        </p:txBody>
      </p:sp>
      <p:sp>
        <p:nvSpPr>
          <p:cNvPr id="29" name="B2 pin"/>
          <p:cNvSpPr/>
          <p:nvPr/>
        </p:nvSpPr>
        <p:spPr>
          <a:xfrm>
            <a:off x="6949440" y="3680460"/>
            <a:ext cx="77724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0" name="B2 label"/>
          <p:cNvSpPr txBox="1"/>
          <p:nvPr/>
        </p:nvSpPr>
        <p:spPr>
          <a:xfrm>
            <a:off x="6949440" y="36804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B2</a:t>
            </a:r>
            <a:endParaRPr lang="en-US" sz="1600" dirty="0"/>
          </a:p>
        </p:txBody>
      </p:sp>
      <p:sp>
        <p:nvSpPr>
          <p:cNvPr id="31" name="B1 pin"/>
          <p:cNvSpPr/>
          <p:nvPr/>
        </p:nvSpPr>
        <p:spPr>
          <a:xfrm>
            <a:off x="6949440" y="4457700"/>
            <a:ext cx="77724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2" name="B1 label"/>
          <p:cNvSpPr txBox="1"/>
          <p:nvPr/>
        </p:nvSpPr>
        <p:spPr>
          <a:xfrm>
            <a:off x="6949440" y="44577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B1</a:t>
            </a:r>
            <a:endParaRPr lang="en-US" sz="1600" dirty="0"/>
          </a:p>
        </p:txBody>
      </p:sp>
      <p:sp>
        <p:nvSpPr>
          <p:cNvPr id="33" name="B0 pin"/>
          <p:cNvSpPr/>
          <p:nvPr/>
        </p:nvSpPr>
        <p:spPr>
          <a:xfrm>
            <a:off x="6949440" y="5234940"/>
            <a:ext cx="77724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4" name="B0 label"/>
          <p:cNvSpPr txBox="1"/>
          <p:nvPr/>
        </p:nvSpPr>
        <p:spPr>
          <a:xfrm>
            <a:off x="6949440" y="52349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B0</a:t>
            </a:r>
            <a:endParaRPr lang="en-US" sz="1600" dirty="0"/>
          </a:p>
        </p:txBody>
      </p:sp>
      <p:sp>
        <p:nvSpPr>
          <p:cNvPr id="35" name="XOR gate 1"/>
          <p:cNvSpPr/>
          <p:nvPr/>
        </p:nvSpPr>
        <p:spPr>
          <a:xfrm>
            <a:off x="2766060" y="3680460"/>
            <a:ext cx="502920" cy="50292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36" name="XOR symbol"/>
          <p:cNvSpPr txBox="1"/>
          <p:nvPr/>
        </p:nvSpPr>
        <p:spPr>
          <a:xfrm>
            <a:off x="2766060" y="3680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⊕</a:t>
            </a:r>
            <a:endParaRPr lang="en-US" sz="2200" dirty="0"/>
          </a:p>
        </p:txBody>
      </p:sp>
      <p:sp>
        <p:nvSpPr>
          <p:cNvPr id="37" name="XOR label 1"/>
          <p:cNvSpPr txBox="1"/>
          <p:nvPr/>
        </p:nvSpPr>
        <p:spPr>
          <a:xfrm>
            <a:off x="3310128" y="3520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g2 ⊕ b3</a:t>
            </a:r>
            <a:endParaRPr lang="en-US" sz="1200" dirty="0"/>
          </a:p>
        </p:txBody>
      </p:sp>
      <p:sp>
        <p:nvSpPr>
          <p:cNvPr id="38" name="XOR gate 2"/>
          <p:cNvSpPr/>
          <p:nvPr/>
        </p:nvSpPr>
        <p:spPr>
          <a:xfrm>
            <a:off x="3954780" y="4457700"/>
            <a:ext cx="502920" cy="50292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39" name="XOR symbol"/>
          <p:cNvSpPr txBox="1"/>
          <p:nvPr/>
        </p:nvSpPr>
        <p:spPr>
          <a:xfrm>
            <a:off x="3954780" y="44577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⊕</a:t>
            </a:r>
            <a:endParaRPr lang="en-US" sz="2200" dirty="0"/>
          </a:p>
        </p:txBody>
      </p:sp>
      <p:sp>
        <p:nvSpPr>
          <p:cNvPr id="40" name="XOR label 2"/>
          <p:cNvSpPr txBox="1"/>
          <p:nvPr/>
        </p:nvSpPr>
        <p:spPr>
          <a:xfrm>
            <a:off x="4498848" y="42976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g1 ⊕ b2</a:t>
            </a:r>
            <a:endParaRPr lang="en-US" sz="1200" dirty="0"/>
          </a:p>
        </p:txBody>
      </p:sp>
      <p:sp>
        <p:nvSpPr>
          <p:cNvPr id="41" name="XOR gate 3"/>
          <p:cNvSpPr/>
          <p:nvPr/>
        </p:nvSpPr>
        <p:spPr>
          <a:xfrm>
            <a:off x="5143500" y="5234940"/>
            <a:ext cx="502920" cy="50292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42" name="XOR symbol"/>
          <p:cNvSpPr txBox="1"/>
          <p:nvPr/>
        </p:nvSpPr>
        <p:spPr>
          <a:xfrm>
            <a:off x="5143500" y="52349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⊕</a:t>
            </a:r>
            <a:endParaRPr lang="en-US" sz="2200" dirty="0"/>
          </a:p>
        </p:txBody>
      </p:sp>
      <p:sp>
        <p:nvSpPr>
          <p:cNvPr id="43" name="XOR label 3"/>
          <p:cNvSpPr txBox="1"/>
          <p:nvPr/>
        </p:nvSpPr>
        <p:spPr>
          <a:xfrm>
            <a:off x="5687568" y="50749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g0 ⊕ b1</a:t>
            </a:r>
            <a:endParaRPr lang="en-US" sz="1200" dirty="0"/>
          </a:p>
        </p:txBody>
      </p:sp>
      <p:sp>
        <p:nvSpPr>
          <p:cNvPr id="44" name="Read the chain card"/>
          <p:cNvSpPr/>
          <p:nvPr/>
        </p:nvSpPr>
        <p:spPr>
          <a:xfrm>
            <a:off x="8412480" y="2514600"/>
            <a:ext cx="3246120" cy="3749040"/>
          </a:xfrm>
          <a:prstGeom prst="roundRect">
            <a:avLst>
              <a:gd name="adj" fmla="val 3944"/>
            </a:avLst>
          </a:prstGeom>
          <a:solidFill>
            <a:schemeClr val="accent1">
              <a:alpha val="2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5" name="Label READ THE CHAIN"/>
          <p:cNvSpPr txBox="1"/>
          <p:nvPr/>
        </p:nvSpPr>
        <p:spPr>
          <a:xfrm>
            <a:off x="868680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READ THE CHAIN</a:t>
            </a:r>
            <a:endParaRPr lang="en-US" sz="1200" dirty="0"/>
          </a:p>
        </p:txBody>
      </p:sp>
      <p:sp>
        <p:nvSpPr>
          <p:cNvPr id="46" name="Chain note"/>
          <p:cNvSpPr txBox="1"/>
          <p:nvPr/>
        </p:nvSpPr>
        <p:spPr>
          <a:xfrm>
            <a:off x="8686800" y="3246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B3 passes through unchanged. The three XOR stages recover B2, B1, and B0 in order.</a:t>
            </a:r>
            <a:endParaRPr lang="en-US" sz="16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4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FROM EQUATION TO TEST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Logisim turns the equations into a testable circuit</a:t>
            </a:r>
            <a:endParaRPr lang="en-US" sz="3000" dirty="0"/>
          </a:p>
        </p:txBody>
      </p:sp>
      <p:sp>
        <p:nvSpPr>
          <p:cNvPr id="4" name="Step card 1"/>
          <p:cNvSpPr/>
          <p:nvPr/>
        </p:nvSpPr>
        <p:spPr>
          <a:xfrm>
            <a:off x="548640" y="1828800"/>
            <a:ext cx="3566160" cy="2377440"/>
          </a:xfrm>
          <a:prstGeom prst="roundRect">
            <a:avLst>
              <a:gd name="adj" fmla="val 5385"/>
            </a:avLst>
          </a:prstGeom>
          <a:solidFill>
            <a:schemeClr val="tx2">
              <a:alpha val="75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5" name="Step heading 1"/>
          <p:cNvSpPr txBox="1"/>
          <p:nvPr/>
        </p:nvSpPr>
        <p:spPr>
          <a:xfrm>
            <a:off x="82296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Place the pins</a:t>
            </a:r>
            <a:endParaRPr lang="en-US" sz="2000" dirty="0"/>
          </a:p>
        </p:txBody>
      </p:sp>
      <p:sp>
        <p:nvSpPr>
          <p:cNvPr id="6" name="Step text 1"/>
          <p:cNvSpPr txBox="1"/>
          <p:nvPr/>
        </p:nvSpPr>
        <p:spPr>
          <a:xfrm>
            <a:off x="822960" y="26517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Place four input pins and four output pins; label them G3–G0 and B3–B0.</a:t>
            </a:r>
            <a:endParaRPr lang="en-US" sz="1600" dirty="0"/>
          </a:p>
        </p:txBody>
      </p:sp>
      <p:sp>
        <p:nvSpPr>
          <p:cNvPr id="7" name="Step card 2"/>
          <p:cNvSpPr/>
          <p:nvPr/>
        </p:nvSpPr>
        <p:spPr>
          <a:xfrm>
            <a:off x="4297680" y="1828800"/>
            <a:ext cx="3566160" cy="2377440"/>
          </a:xfrm>
          <a:prstGeom prst="roundRect">
            <a:avLst>
              <a:gd name="adj" fmla="val 5385"/>
            </a:avLst>
          </a:prstGeom>
          <a:solidFill>
            <a:schemeClr val="tx2">
              <a:alpha val="75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8" name="Step heading 2"/>
          <p:cNvSpPr txBox="1"/>
          <p:nvPr/>
        </p:nvSpPr>
        <p:spPr>
          <a:xfrm>
            <a:off x="457200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Wire the chain</a:t>
            </a:r>
            <a:endParaRPr lang="en-US" sz="2000" dirty="0"/>
          </a:p>
        </p:txBody>
      </p:sp>
      <p:sp>
        <p:nvSpPr>
          <p:cNvPr id="9" name="Step text 2"/>
          <p:cNvSpPr txBox="1"/>
          <p:nvPr/>
        </p:nvSpPr>
        <p:spPr>
          <a:xfrm>
            <a:off x="4572000" y="26517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Wire G3 directly to B3, then add XOR gates for B2, B1, and B0.</a:t>
            </a:r>
            <a:endParaRPr lang="en-US" sz="1600" dirty="0"/>
          </a:p>
        </p:txBody>
      </p:sp>
      <p:sp>
        <p:nvSpPr>
          <p:cNvPr id="10" name="Step card 3"/>
          <p:cNvSpPr/>
          <p:nvPr/>
        </p:nvSpPr>
        <p:spPr>
          <a:xfrm>
            <a:off x="8046720" y="1828800"/>
            <a:ext cx="3566160" cy="2377440"/>
          </a:xfrm>
          <a:prstGeom prst="roundRect">
            <a:avLst>
              <a:gd name="adj" fmla="val 5385"/>
            </a:avLst>
          </a:prstGeom>
          <a:solidFill>
            <a:schemeClr val="tx2">
              <a:alpha val="75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1" name="Step heading 3"/>
          <p:cNvSpPr txBox="1"/>
          <p:nvPr/>
        </p:nvSpPr>
        <p:spPr>
          <a:xfrm>
            <a:off x="832104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Probe the behavior</a:t>
            </a:r>
            <a:endParaRPr lang="en-US" sz="2000" dirty="0"/>
          </a:p>
        </p:txBody>
      </p:sp>
      <p:sp>
        <p:nvSpPr>
          <p:cNvPr id="12" name="Step text 3"/>
          <p:cNvSpPr txBox="1"/>
          <p:nvPr/>
        </p:nvSpPr>
        <p:spPr>
          <a:xfrm>
            <a:off x="8321040" y="26517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Set input pins with switches, observe LEDs or probes, and verify each output against the expected binary value.</a:t>
            </a:r>
            <a:endParaRPr lang="en-US" sz="1600" dirty="0"/>
          </a:p>
        </p:txBody>
      </p:sp>
      <p:sp>
        <p:nvSpPr>
          <p:cNvPr id="14" name="Label SIMULATION CAPTURE"/>
          <p:cNvSpPr txBox="1"/>
          <p:nvPr/>
        </p:nvSpPr>
        <p:spPr>
          <a:xfrm>
            <a:off x="8229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Capture placeholder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4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VERIFICATION RECORD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Verify every tested code word</a:t>
            </a:r>
            <a:endParaRPr lang="en-US" sz="3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Use the editable verification table; add the final Logisim screenshot beside it before submission.</a:t>
            </a:r>
            <a:endParaRPr lang="en-US" sz="1600" dirty="0"/>
          </a:p>
        </p:txBody>
      </p:sp>
      <p:graphicFrame>
        <p:nvGraphicFramePr>
          <p:cNvPr id="7" name="Verific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353872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Gray input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Expected binary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Observed binary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0000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0000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[enter]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[pass/fail]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0001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0001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[enter]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[pass/fail]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0011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0010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[enter]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[pass/fail]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0010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0011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[enter]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[pass/fail]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0110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0100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[enter]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[pass/fail]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0111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0101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[enter]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[pass/fail]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0101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0110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[enter]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[pass/fail]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0100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0111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[enter]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[pass/fail]</a:t>
                      </a:r>
                      <a:endParaRPr lang="en-US" sz="14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4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One XOR chain supports several practical systems</a:t>
            </a:r>
            <a:endParaRPr lang="en-US" sz="3000" dirty="0"/>
          </a:p>
        </p:txBody>
      </p:sp>
      <p:sp>
        <p:nvSpPr>
          <p:cNvPr id="3" name="Card Position encoders"/>
          <p:cNvSpPr/>
          <p:nvPr/>
        </p:nvSpPr>
        <p:spPr>
          <a:xfrm>
            <a:off x="548640" y="1828800"/>
            <a:ext cx="5440680" cy="2057400"/>
          </a:xfrm>
          <a:prstGeom prst="roundRect">
            <a:avLst>
              <a:gd name="adj" fmla="val 6222"/>
            </a:avLst>
          </a:prstGeom>
          <a:solidFill>
            <a:schemeClr val="tx2">
              <a:alpha val="75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" name="Position encoders badge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chemeClr val="accent3">
              <a:alpha val="5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Position encoders icon" descr="Position encoder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2381098"/>
            <a:ext cx="404165" cy="404165"/>
          </a:xfrm>
          <a:prstGeom prst="rect">
            <a:avLst/>
          </a:prstGeom>
        </p:spPr>
      </p:pic>
      <p:sp>
        <p:nvSpPr>
          <p:cNvPr id="6" name="Heading Position encoders"/>
          <p:cNvSpPr txBox="1"/>
          <p:nvPr/>
        </p:nvSpPr>
        <p:spPr>
          <a:xfrm>
            <a:off x="1920240" y="2148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Position encoders</a:t>
            </a:r>
            <a:endParaRPr lang="en-US" sz="2000" dirty="0"/>
          </a:p>
        </p:txBody>
      </p:sp>
      <p:sp>
        <p:nvSpPr>
          <p:cNvPr id="7" name="Text Position encoders"/>
          <p:cNvSpPr txBox="1"/>
          <p:nvPr/>
        </p:nvSpPr>
        <p:spPr>
          <a:xfrm>
            <a:off x="1920240" y="26517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Rotary and position encoders reduce readout errors when adjacent positions change.</a:t>
            </a:r>
            <a:endParaRPr lang="en-US" sz="1500" dirty="0"/>
          </a:p>
        </p:txBody>
      </p:sp>
      <p:sp>
        <p:nvSpPr>
          <p:cNvPr id="8" name="Card Communication"/>
          <p:cNvSpPr/>
          <p:nvPr/>
        </p:nvSpPr>
        <p:spPr>
          <a:xfrm>
            <a:off x="6172200" y="1828800"/>
            <a:ext cx="5440680" cy="2057400"/>
          </a:xfrm>
          <a:prstGeom prst="roundRect">
            <a:avLst>
              <a:gd name="adj" fmla="val 6222"/>
            </a:avLst>
          </a:prstGeom>
          <a:solidFill>
            <a:schemeClr val="tx2">
              <a:alpha val="75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9" name="Communication badge"/>
          <p:cNvSpPr/>
          <p:nvPr/>
        </p:nvSpPr>
        <p:spPr>
          <a:xfrm>
            <a:off x="6492240" y="2194560"/>
            <a:ext cx="777240" cy="777240"/>
          </a:xfrm>
          <a:prstGeom prst="ellipse">
            <a:avLst/>
          </a:prstGeom>
          <a:solidFill>
            <a:schemeClr val="accent3">
              <a:alpha val="5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Communication icon" descr="Communicatio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2381098"/>
            <a:ext cx="404165" cy="404165"/>
          </a:xfrm>
          <a:prstGeom prst="rect">
            <a:avLst/>
          </a:prstGeom>
        </p:spPr>
      </p:pic>
      <p:sp>
        <p:nvSpPr>
          <p:cNvPr id="11" name="Heading Communication"/>
          <p:cNvSpPr txBox="1"/>
          <p:nvPr/>
        </p:nvSpPr>
        <p:spPr>
          <a:xfrm>
            <a:off x="7543800" y="2148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Communication</a:t>
            </a:r>
            <a:endParaRPr lang="en-US" sz="2000" dirty="0"/>
          </a:p>
        </p:txBody>
      </p:sp>
      <p:sp>
        <p:nvSpPr>
          <p:cNvPr id="12" name="Text Communication"/>
          <p:cNvSpPr txBox="1"/>
          <p:nvPr/>
        </p:nvSpPr>
        <p:spPr>
          <a:xfrm>
            <a:off x="7543800" y="26517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Digital communication and data conversion limit ambiguity during transitions.</a:t>
            </a:r>
            <a:endParaRPr lang="en-US" sz="1500" dirty="0"/>
          </a:p>
        </p:txBody>
      </p:sp>
      <p:sp>
        <p:nvSpPr>
          <p:cNvPr id="13" name="Card Logic organization"/>
          <p:cNvSpPr/>
          <p:nvPr/>
        </p:nvSpPr>
        <p:spPr>
          <a:xfrm>
            <a:off x="548640" y="4114800"/>
            <a:ext cx="5440680" cy="2057400"/>
          </a:xfrm>
          <a:prstGeom prst="roundRect">
            <a:avLst>
              <a:gd name="adj" fmla="val 6222"/>
            </a:avLst>
          </a:prstGeom>
          <a:solidFill>
            <a:schemeClr val="tx2">
              <a:alpha val="75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4" name="Logic organization badge"/>
          <p:cNvSpPr/>
          <p:nvPr/>
        </p:nvSpPr>
        <p:spPr>
          <a:xfrm>
            <a:off x="868680" y="4480560"/>
            <a:ext cx="777240" cy="777240"/>
          </a:xfrm>
          <a:prstGeom prst="ellipse">
            <a:avLst/>
          </a:prstGeom>
          <a:solidFill>
            <a:schemeClr val="accent3">
              <a:alpha val="5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Logic organization icon" descr="Logic organiza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218" y="4667098"/>
            <a:ext cx="404165" cy="404165"/>
          </a:xfrm>
          <a:prstGeom prst="rect">
            <a:avLst/>
          </a:prstGeom>
        </p:spPr>
      </p:pic>
      <p:sp>
        <p:nvSpPr>
          <p:cNvPr id="16" name="Heading Logic organization"/>
          <p:cNvSpPr txBox="1"/>
          <p:nvPr/>
        </p:nvSpPr>
        <p:spPr>
          <a:xfrm>
            <a:off x="1920240" y="4434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Logic organization</a:t>
            </a:r>
            <a:endParaRPr lang="en-US" sz="2000" dirty="0"/>
          </a:p>
        </p:txBody>
      </p:sp>
      <p:sp>
        <p:nvSpPr>
          <p:cNvPr id="17" name="Text Logic organization"/>
          <p:cNvSpPr txBox="1"/>
          <p:nvPr/>
        </p:nvSpPr>
        <p:spPr>
          <a:xfrm>
            <a:off x="1920240" y="49377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Karnaugh maps and sequencing organize adjacent combinations so only one bit changes.</a:t>
            </a:r>
            <a:endParaRPr lang="en-US" sz="1500" dirty="0"/>
          </a:p>
        </p:txBody>
      </p:sp>
      <p:sp>
        <p:nvSpPr>
          <p:cNvPr id="21" name="Heading Next iteration"/>
          <p:cNvSpPr txBox="1"/>
          <p:nvPr/>
        </p:nvSpPr>
        <p:spPr>
          <a:xfrm>
            <a:off x="7543800" y="4434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2" name="Text Next iteration"/>
          <p:cNvSpPr txBox="1"/>
          <p:nvPr/>
        </p:nvSpPr>
        <p:spPr>
          <a:xfrm>
            <a:off x="7543800" y="49377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4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73DD9-8D7B-C15B-BCD8-6207A66CC52C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381662" y="979999"/>
            <a:ext cx="11064240" cy="914400"/>
          </a:xfrm>
        </p:spPr>
        <p:txBody>
          <a:bodyPr/>
          <a:lstStyle/>
          <a:p>
            <a:br>
              <a:rPr lang="en-US" dirty="0"/>
            </a:br>
            <a:endParaRPr lang="en-IN" dirty="0"/>
          </a:p>
        </p:txBody>
      </p:sp>
      <p:pic>
        <p:nvPicPr>
          <p:cNvPr id="3" name="Picture 2" descr="Amazing Mars Photos: Curiosity Rover's 1st Martian Month | Space">
            <a:extLst>
              <a:ext uri="{FF2B5EF4-FFF2-40B4-BE49-F238E27FC236}">
                <a16:creationId xmlns:a16="http://schemas.microsoft.com/office/drawing/2014/main" id="{FFC251E5-522F-23C0-FF26-11BE2FD7B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1" y="450242"/>
            <a:ext cx="5595924" cy="5957515"/>
          </a:xfrm>
          <a:prstGeom prst="rect">
            <a:avLst/>
          </a:prstGeom>
        </p:spPr>
      </p:pic>
      <p:pic>
        <p:nvPicPr>
          <p:cNvPr id="4" name="Picture 3" descr="HST Pointing Control System Diagram - NASA Science">
            <a:extLst>
              <a:ext uri="{FF2B5EF4-FFF2-40B4-BE49-F238E27FC236}">
                <a16:creationId xmlns:a16="http://schemas.microsoft.com/office/drawing/2014/main" id="{71600155-D41B-62C2-5079-04D113241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819" y="424650"/>
            <a:ext cx="6005886" cy="2939498"/>
          </a:xfrm>
          <a:prstGeom prst="rect">
            <a:avLst/>
          </a:prstGeom>
        </p:spPr>
      </p:pic>
      <p:pic>
        <p:nvPicPr>
          <p:cNvPr id="5" name="Picture 4" descr="Canada's stellar navigator on the James Webb Space Telescope – Infographic  - Canadian Space Agency">
            <a:extLst>
              <a:ext uri="{FF2B5EF4-FFF2-40B4-BE49-F238E27FC236}">
                <a16:creationId xmlns:a16="http://schemas.microsoft.com/office/drawing/2014/main" id="{8B412B18-1BD2-438E-C545-23CCDEBAA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819" y="3404649"/>
            <a:ext cx="6005886" cy="300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719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card"/>
          <p:cNvSpPr/>
          <p:nvPr/>
        </p:nvSpPr>
        <p:spPr>
          <a:xfrm>
            <a:off x="548640" y="731520"/>
            <a:ext cx="4754880" cy="5577840"/>
          </a:xfrm>
          <a:prstGeom prst="roundRect">
            <a:avLst>
              <a:gd name="adj" fmla="val 2692"/>
            </a:avLst>
          </a:prstGeom>
          <a:solidFill>
            <a:schemeClr val="tx1">
              <a:alpha val="94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868680" y="105156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What if one wrong bit changed a spacecraft’s decision?</a:t>
            </a:r>
            <a:endParaRPr lang="en-US" sz="2800" dirty="0"/>
          </a:p>
        </p:txBody>
      </p:sp>
      <p:sp>
        <p:nvSpPr>
          <p:cNvPr id="4" name="Sensor statement"/>
          <p:cNvSpPr txBox="1"/>
          <p:nvPr/>
        </p:nvSpPr>
        <p:spPr>
          <a:xfrm>
            <a:off x="868680" y="28803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 position sensor must tell a machine exactly where it is.</a:t>
            </a:r>
            <a:endParaRPr lang="en-US" sz="1600" dirty="0"/>
          </a:p>
        </p:txBody>
      </p:sp>
      <p:sp>
        <p:nvSpPr>
          <p:cNvPr id="5" name="Examples list"/>
          <p:cNvSpPr txBox="1"/>
          <p:nvPr/>
        </p:nvSpPr>
        <p:spPr>
          <a:xfrm>
            <a:off x="868680" y="374904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A rover’s robotic arm needs accurate joint-angle measurements.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A telescope must point precisely toward a target.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A temporarily incorrect reading can confuse a control system.</a:t>
            </a:r>
            <a:endParaRPr lang="en-US" sz="1500" dirty="0"/>
          </a:p>
        </p:txBody>
      </p:sp>
      <p:sp>
        <p:nvSpPr>
          <p:cNvPr id="6" name="Core idea card"/>
          <p:cNvSpPr/>
          <p:nvPr/>
        </p:nvSpPr>
        <p:spPr>
          <a:xfrm>
            <a:off x="5577840" y="731520"/>
            <a:ext cx="6080760" cy="5577840"/>
          </a:xfrm>
          <a:prstGeom prst="roundRect">
            <a:avLst>
              <a:gd name="adj" fmla="val 2295"/>
            </a:avLst>
          </a:prstGeom>
          <a:solidFill>
            <a:schemeClr val="tx1">
              <a:alpha val="94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7" name="Label THE CORE IDEA"/>
          <p:cNvSpPr txBox="1"/>
          <p:nvPr/>
        </p:nvSpPr>
        <p:spPr>
          <a:xfrm>
            <a:off x="594360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THE CORE IDEA</a:t>
            </a:r>
            <a:endParaRPr lang="en-US" sz="1200" dirty="0"/>
          </a:p>
        </p:txBody>
      </p:sp>
      <p:sp>
        <p:nvSpPr>
          <p:cNvPr id="8" name="Core idea heading"/>
          <p:cNvSpPr txBox="1"/>
          <p:nvPr/>
        </p:nvSpPr>
        <p:spPr>
          <a:xfrm>
            <a:off x="5943600" y="155448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One safe transition.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One usable value.</a:t>
            </a:r>
            <a:endParaRPr lang="en-US" sz="3400" dirty="0"/>
          </a:p>
        </p:txBody>
      </p:sp>
      <p:sp>
        <p:nvSpPr>
          <p:cNvPr id="9" name="Core idea text"/>
          <p:cNvSpPr txBox="1"/>
          <p:nvPr/>
        </p:nvSpPr>
        <p:spPr>
          <a:xfrm>
            <a:off x="5943600" y="320040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Gray code changes only one bit between neighboring positions. A Gray-to-binary converter translates that reading into a format digital systems can use.</a:t>
            </a:r>
            <a:endParaRPr lang="en-US" sz="1600" dirty="0"/>
          </a:p>
        </p:txBody>
      </p:sp>
      <p:sp>
        <p:nvSpPr>
          <p:cNvPr id="10" name="Caveat card"/>
          <p:cNvSpPr/>
          <p:nvPr/>
        </p:nvSpPr>
        <p:spPr>
          <a:xfrm>
            <a:off x="5943600" y="4800600"/>
            <a:ext cx="5349240" cy="1188720"/>
          </a:xfrm>
          <a:prstGeom prst="roundRect">
            <a:avLst>
              <a:gd name="adj" fmla="val 10769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aveat text"/>
          <p:cNvSpPr txBox="1"/>
          <p:nvPr/>
        </p:nvSpPr>
        <p:spPr>
          <a:xfrm>
            <a:off x="6172200" y="480060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Gray code reduces transition ambiguity.</a:t>
            </a:r>
            <a:r>
              <a:rPr lang="en-US" sz="1400" dirty="0">
                <a:solidFill>
                  <a:schemeClr val="bg2"/>
                </a:solidFill>
              </a:rPr>
              <a:t> It does not shield electronics from every radiation or system fault.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4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vy Cyan Chipset">
  <a:themeElements>
    <a:clrScheme name="Navy Cyan Chipset">
      <a:dk1>
        <a:srgbClr val="0A1230"/>
      </a:dk1>
      <a:lt1>
        <a:srgbClr val="FFFFFF"/>
      </a:lt1>
      <a:dk2>
        <a:srgbClr val="13245A"/>
      </a:dk2>
      <a:lt2>
        <a:srgbClr val="CFE3FF"/>
      </a:lt2>
      <a:accent1>
        <a:srgbClr val="3B82F6"/>
      </a:accent1>
      <a:accent2>
        <a:srgbClr val="38BDF8"/>
      </a:accent2>
      <a:accent3>
        <a:srgbClr val="2B55B8"/>
      </a:accent3>
      <a:accent4>
        <a:srgbClr val="F5A524"/>
      </a:accent4>
      <a:accent5>
        <a:srgbClr val="22D3EE"/>
      </a:accent5>
      <a:accent6>
        <a:srgbClr val="8FB4FF"/>
      </a:accent6>
      <a:hlink>
        <a:srgbClr val="38BDF8"/>
      </a:hlink>
      <a:folHlink>
        <a:srgbClr val="8FB4FF"/>
      </a:folHlink>
    </a:clrScheme>
    <a:fontScheme name="Navy Cyan Chips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620</Words>
  <Application>Microsoft Office PowerPoint</Application>
  <PresentationFormat>Widescreen</PresentationFormat>
  <Paragraphs>125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Navy Cyan Chipset</vt:lpstr>
      <vt:lpstr>Design a Gray Code to Binary Converter</vt:lpstr>
      <vt:lpstr>Gray code prevents multi-bit transition errors</vt:lpstr>
      <vt:lpstr>Conversion is a running XOR from MSB to LSB</vt:lpstr>
      <vt:lpstr>The 4-bit logic circuit is a three-stage XOR chain</vt:lpstr>
      <vt:lpstr>Logisim turns the equations into a testable circuit</vt:lpstr>
      <vt:lpstr>Verify every tested code word</vt:lpstr>
      <vt:lpstr>One XOR chain supports several practical systems</vt:lpstr>
      <vt:lpstr> </vt:lpstr>
      <vt:lpstr>What if one wrong bit changed a spacecraft’s decision?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 Gray Code to Binary Converter</dc:title>
  <dc:subject>PptxGenJS Presentation</dc:subject>
  <dc:creator>PptxGenJS</dc:creator>
  <cp:lastModifiedBy>KMS Siddhartha</cp:lastModifiedBy>
  <cp:revision>6</cp:revision>
  <dcterms:created xsi:type="dcterms:W3CDTF">2026-10-15T03:16:53Z</dcterms:created>
  <dcterms:modified xsi:type="dcterms:W3CDTF">2026-10-15T03:50:34Z</dcterms:modified>
</cp:coreProperties>
</file>